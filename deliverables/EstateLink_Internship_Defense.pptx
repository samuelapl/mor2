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samuelapl--projects-lms/63724ae9-3034-440e-91f7-96dad1a3046b/images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5029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BAHIR DAR UNIVERSITY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1600200" y="8412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Bahir Dar Institute of Technology  ·  Faculty of Computing  ·  Dept. of Software Engineering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DEFENSE PRESENTATION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6517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EstateLink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D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Web-Based Real Estate Listing and Rental Management System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5257800"/>
            <a:ext cx="11091672" cy="0"/>
          </a:xfrm>
          <a:prstGeom prst="line">
            <a:avLst/>
          </a:prstGeom>
          <a:noFill/>
          <a:ln w="12700">
            <a:solidFill>
              <a:srgbClr val="2E4A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486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79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Rediet Gebrehiwot · BDU1505929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Tamer Getaw · BDU1507859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5486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COMPANY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5779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Ethioden IT Consultancy PLC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Mall, Bahir Dar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5486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5779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Mentors: D. Lake · T. Abebe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D. Aklog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9464040" y="5486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5779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Bahir Dar, Ethiopia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91640"/>
            <a:ext cx="777240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Background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21408"/>
            <a:ext cx="9509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Ethioden IT Consultancy PLC — history, services and 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51176"/>
            <a:ext cx="11094415" cy="0"/>
          </a:xfrm>
          <a:prstGeom prst="line">
            <a:avLst/>
          </a:prstGeom>
          <a:noFill/>
          <a:ln w="9525">
            <a:solidFill>
              <a:srgbClr val="E3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51176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51176"/>
            <a:ext cx="777240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Experience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80944"/>
            <a:ext cx="9509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placement, tasks, tools, challenges and learning outcomes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11094415" cy="0"/>
          </a:xfrm>
          <a:prstGeom prst="line">
            <a:avLst/>
          </a:prstGeom>
          <a:noFill/>
          <a:ln w="9525">
            <a:solidFill>
              <a:srgbClr val="E3E6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10712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10712"/>
            <a:ext cx="777240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— EstateLink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840480"/>
            <a:ext cx="9509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objectives, architecture and core features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70248"/>
            <a:ext cx="11094415" cy="0"/>
          </a:xfrm>
          <a:prstGeom prst="line">
            <a:avLst/>
          </a:prstGeom>
          <a:noFill/>
          <a:ln w="9525">
            <a:solidFill>
              <a:srgbClr val="E3E6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70248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70248"/>
            <a:ext cx="777240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700016"/>
            <a:ext cx="9509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outcomes and user acceptance feedback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29784"/>
            <a:ext cx="11094415" cy="0"/>
          </a:xfrm>
          <a:prstGeom prst="line">
            <a:avLst/>
          </a:prstGeom>
          <a:noFill/>
          <a:ln w="9525">
            <a:solidFill>
              <a:srgbClr val="E3E6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29784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129784"/>
            <a:ext cx="777240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559552"/>
            <a:ext cx="9509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achieved, and what comes next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COMPANY BACKGROUND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Ethioden IT Consultancy PLC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2021 as a joint venture between an Icelandic ICT investor and a group of Ethiopian professionals, the company pairs international practice with a close understanding of the local market.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small start-up consultancy it has grown into an established regional player, delivering technology consultancy, custom system development, capacity building and post-deployment support across the public, private and non-profit sectors.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760720" cy="777240"/>
          </a:xfrm>
          <a:prstGeom prst="roundRect">
            <a:avLst>
              <a:gd name="adj" fmla="val 47059"/>
            </a:avLst>
          </a:prstGeom>
          <a:solidFill>
            <a:srgbClr val="0F2A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“Empowering Businesses through Technology &amp; Innovation”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1691640"/>
            <a:ext cx="4325112" cy="3291840"/>
          </a:xfrm>
          <a:prstGeom prst="roundRect">
            <a:avLst>
              <a:gd name="adj" fmla="val 2222"/>
            </a:avLst>
          </a:prstGeom>
          <a:solidFill>
            <a:srgbClr val="0F2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35240" y="19659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24028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35240" y="2633472"/>
            <a:ext cx="3685032" cy="0"/>
          </a:xfrm>
          <a:prstGeom prst="line">
            <a:avLst/>
          </a:prstGeom>
          <a:noFill/>
          <a:ln w="9525">
            <a:solidFill>
              <a:srgbClr val="2E4A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35240" y="26517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92608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Mall, 3rd Floor, Bahir Dar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35240" y="3319272"/>
            <a:ext cx="3685032" cy="0"/>
          </a:xfrm>
          <a:prstGeom prst="line">
            <a:avLst/>
          </a:prstGeom>
          <a:noFill/>
          <a:ln w="9525">
            <a:solidFill>
              <a:srgbClr val="2E4A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35240" y="33375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361188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ICT Consultancy &amp; Custom Development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35240" y="4005072"/>
            <a:ext cx="3685032" cy="0"/>
          </a:xfrm>
          <a:prstGeom prst="line">
            <a:avLst/>
          </a:prstGeom>
          <a:noFill/>
          <a:ln w="9525">
            <a:solidFill>
              <a:srgbClr val="2E4A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35240" y="40233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429768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Ethiopia → Pan-African reach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orientation briefings · internship report §2.1–2.3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COMPANY BACKGROUND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&amp; Organisation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583680" cy="292608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Consultancy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strategy, IT audits, cybersecurity, change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System Development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&amp; mobile apps, ERP and specialised systems, agile delivery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Building &amp; Training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Workshops and mentoring in software, data, cloud, 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Support &amp; Maintenance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Monitoring, defect correction, helpdesk, performance tuning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9164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Management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9601200" y="2194560"/>
            <a:ext cx="0" cy="18288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7818120" y="237744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0956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Office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0" y="2880360"/>
            <a:ext cx="0" cy="18288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818120" y="306324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0F2A4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09560" y="30632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Team — hosted our internship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601200" y="3657600"/>
            <a:ext cx="0" cy="18288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818120" y="384048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909560" y="3840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(us)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44074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 &amp; BA, QA &amp; Testing and Support &amp; Training operate alongside Software Development, all reporting to the PMO.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16636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EAF0F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16636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service line, the company emphasises quality assurance, on-time delivery and a measurable return on the client's investment.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INTERNSHIP EXPERIENCE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Placement: Software Development Team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jointly with our supervisor during orientation week, on the strength of our background in software engineering, database design and OOAD.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Fit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2936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engineering, UML, web programming, databases and testing map directly onto the unit's daily work.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3458" y="2148840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27778" y="23317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27778" y="269748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Ground-Floor Project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3154680"/>
            <a:ext cx="2936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platform was just starting — we joined EstateLink from its very first requirement.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8277" y="2148840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32597" y="23317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32597" y="269748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Cross-Team Visibility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432597" y="3154680"/>
            <a:ext cx="2936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at the centre of the company workflow gave us sight of business analysis, QA and support as well.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AF0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8006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worked mainly on </a:t>
            </a:r>
            <a:pPr indent="0" marL="0">
              <a:buNone/>
            </a:pPr>
            <a:r>
              <a:rPr lang="en-US" sz="13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integration</a:t>
            </a:r>
            <a:pPr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while contributing to frontend components, database design and testing — alongside two permanent developers acting as reviewers.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INTERNSHIP EXPERIENCE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15-Week Engagement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3977640"/>
        </p:xfrm>
        <a:graphic>
          <a:graphicData uri="http://schemas.openxmlformats.org/drawingml/2006/table">
            <a:tbl>
              <a:tblPr/>
              <a:tblGrid>
                <a:gridCol w="1737360"/>
                <a:gridCol w="5486400"/>
                <a:gridCol w="3867912"/>
              </a:tblGrid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Orientation, induction, environment setup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Configured workstation, signed plan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2–3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elicitation &amp; problem identification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specification draft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4–5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UML modelling, database design, architecture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 set &amp; ERD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6–10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Auth, listings, search &amp; filter, real-time messaging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REST API &amp; live chat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11–13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Chapa payment integration, frontend &amp; admin panel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test environment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14–15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cycle, UAT support, documentation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report &amp; internship report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closed with a review, a test, and a demonstration before the next began.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INTERNSHIP EXPERIENCE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Toolkit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· Tailwind CSS · Axios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218" y="1691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6818" y="18745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228600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 · Pydantic · SQLAlchemy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7797" y="1691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56397" y="18745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56397" y="228600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15+ on Neon · pgAdmin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566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97764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CORS configuration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38218" y="3383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66818" y="3566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Payment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66818" y="397764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(WSS) · Chapa gateway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7797" y="3383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56397" y="3566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Design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56397" y="397764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PlantUML · Draw.io · Figma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0F2A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257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66928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Jest · Postman · Swagger · Lighthouse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38218" y="507492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0F2A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6818" y="5257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66818" y="566928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· issue tracker · team chat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27797" y="507492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0F2A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56397" y="5257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&amp; OS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56397" y="566928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Windows 11 &amp; Ubuntu 22.04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INTERNSHIP EXPERIENCE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Measures Taken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3520440"/>
        </p:xfrm>
        <a:graphic>
          <a:graphicData uri="http://schemas.openxmlformats.org/drawingml/2006/table">
            <a:tbl>
              <a:tblPr/>
              <a:tblGrid>
                <a:gridCol w="3749040"/>
                <a:gridCol w="7342632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Taken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 WebSocket connections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Auto-reconnect with back-off; server persists every message before broadcast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listings leaking publicly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query to filter on status &amp; draft flag, plus a regression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image uploads failing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Client-side compression, enforced size/MIME limits, clear validation errors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state uncertainty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Chapa verification by transaction reference before activation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combined search filters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builder rewritten so only supplied filters add a 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was root-caused, not patched — the two most serious (WebSocket drops, draft-listing leak) were corrected structurally and backed by a regression test.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INTERNSHIP EXPERIENCE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Gained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REST APIs, ORM-modelled databases, real-time features end to 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8218" y="169164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6818" y="1920240"/>
            <a:ext cx="457200" cy="45720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681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5146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Theory, Grounded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28803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models, OOAD and testing theory acquired practical meaning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7797" y="169164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6397" y="1920240"/>
            <a:ext cx="457200" cy="45720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6397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25146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Teamwork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56397" y="28803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code ownership, honest review, and helping teammates unblock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0F2A44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548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modules end to end; ran two internal knowledge-sharing sessions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38218" y="393192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0F2A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6818" y="41605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681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66818" y="47548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Ethics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66818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 punctuality, and honest reporting of our own defects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27797" y="393192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0F2A44"/>
          </a:solidFill>
          <a:ln/>
        </p:spPr>
      </p:sp>
      <p:sp>
        <p:nvSpPr>
          <p:cNvPr id="30" name="Shape 28"/>
          <p:cNvSpPr/>
          <p:nvPr/>
        </p:nvSpPr>
        <p:spPr>
          <a:xfrm>
            <a:off x="8356397" y="41605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6397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356397" y="47548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Entrepreneurship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56397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broker-dependent market as a product opportunity, MVP first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PROJECT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EstateLink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centralised, trustworthy platform for listing and renting property in Ethiopia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publish verified listings for houses and apartments; seekers browse, search, save favourites and message owners in real time — all on one three-tier web application secured with JWT authentication and role-based access.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438912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25780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0824" y="416052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73704" y="438912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3573704" y="525780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executed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3008" y="416052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0F2A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15888" y="438912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525780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satisfaction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75191" y="416052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58071" y="438912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9258071" y="525780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tiers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PROJECT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186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is manual and broker-dependent, with no centralised listing source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3186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88920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size and availability information is inconsistent and often stale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186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66160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– seeker communication is slow, unstructured, relayed by phone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53186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343400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are hard to verify, which opens the door to fraud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24448" y="1600200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24448" y="2011680"/>
            <a:ext cx="5318608" cy="960120"/>
          </a:xfrm>
          <a:prstGeom prst="roundRect">
            <a:avLst>
              <a:gd name="adj" fmla="val 7619"/>
            </a:avLst>
          </a:prstGeom>
          <a:solidFill>
            <a:srgbClr val="0F2A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53048" y="201168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 and evaluate a web platform enabling efficient property advertisement, search and direct owner–seeker communication in Ethiopia.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24448" y="32004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44488" y="3200400"/>
            <a:ext cx="499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role-based authentication with JWT &amp; bcrypt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24448" y="36576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3657600"/>
            <a:ext cx="499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owner–seeker messaging over WebSockets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24448" y="41148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44488" y="4114800"/>
            <a:ext cx="499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payments through the Chapa gateway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24448" y="45720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44488" y="4572000"/>
            <a:ext cx="499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 with administrative approval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PROJECT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DCEB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214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(Vite) Single Page Application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50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· runs in the seeker's and owner's browser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788920"/>
            <a:ext cx="0" cy="32004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310896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0F2A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461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4930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Server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221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+ WebSocket endpoint · all business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4160520"/>
            <a:ext cx="0" cy="32004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48056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EFEA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6177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8646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Database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937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Neon · users, listings, messages, payments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9680" y="3246120"/>
            <a:ext cx="277337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3355848"/>
            <a:ext cx="2316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3593592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Chapa Payment Gateway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69680" y="4160520"/>
            <a:ext cx="277337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4270248"/>
            <a:ext cx="2316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4507992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Storage (Images &amp; Docs)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12480" y="3634740"/>
            <a:ext cx="457200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PROJECT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Core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215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236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issuing, bcrypt hashing, password reset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79394" y="1691640"/>
            <a:ext cx="260215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2274" y="187452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Management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562274" y="2377440"/>
            <a:ext cx="2236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roles, account 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0148" y="1691640"/>
            <a:ext cx="260215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187452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 Management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393028" y="2377440"/>
            <a:ext cx="2236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draft &amp; publish, status transitions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40901" y="1691640"/>
            <a:ext cx="260215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3781" y="187452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Filter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223781" y="2377440"/>
            <a:ext cx="2236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location, bedrooms, bathrooms, type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2602154" cy="1508760"/>
          </a:xfrm>
          <a:prstGeom prst="roundRect">
            <a:avLst>
              <a:gd name="adj" fmla="val 4848"/>
            </a:avLst>
          </a:prstGeom>
          <a:solidFill>
            <a:srgbClr val="0F2A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61188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14800"/>
            <a:ext cx="2236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conversations &amp; full history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79394" y="3429000"/>
            <a:ext cx="2602154" cy="1508760"/>
          </a:xfrm>
          <a:prstGeom prst="roundRect">
            <a:avLst>
              <a:gd name="adj" fmla="val 4848"/>
            </a:avLst>
          </a:prstGeom>
          <a:solidFill>
            <a:srgbClr val="0F2A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62274" y="361188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562274" y="4114800"/>
            <a:ext cx="2236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 subscription lifecycle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0148" y="3429000"/>
            <a:ext cx="2602154" cy="1508760"/>
          </a:xfrm>
          <a:prstGeom prst="roundRect">
            <a:avLst>
              <a:gd name="adj" fmla="val 4848"/>
            </a:avLst>
          </a:prstGeom>
          <a:solidFill>
            <a:srgbClr val="0F2A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93028" y="361188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393028" y="4114800"/>
            <a:ext cx="2236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payment review, activity logs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40901" y="3429000"/>
            <a:ext cx="2602154" cy="1508760"/>
          </a:xfrm>
          <a:prstGeom prst="roundRect">
            <a:avLst>
              <a:gd name="adj" fmla="val 4848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40901" y="3566160"/>
            <a:ext cx="2602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200" dirty="0"/>
          </a:p>
        </p:txBody>
      </p:sp>
      <p:sp>
        <p:nvSpPr>
          <p:cNvPr id="27" name="Text 25"/>
          <p:cNvSpPr txBox="1"/>
          <p:nvPr/>
        </p:nvSpPr>
        <p:spPr>
          <a:xfrm>
            <a:off x="9178061" y="4343400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independently owned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PROJECT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Access Control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18608" cy="1554480"/>
        </p:xfrm>
        <a:graphic>
          <a:graphicData uri="http://schemas.openxmlformats.org/drawingml/2006/table">
            <a:tbl>
              <a:tblPr/>
              <a:tblGrid>
                <a:gridCol w="1280160"/>
                <a:gridCol w="4038448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Permitted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Browse, search, save favourites, message owners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the above, plus create/publish listings, subscribe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management, verification, payment approval, logs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24448" y="160020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Depth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324448" y="2011680"/>
            <a:ext cx="5318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07328" y="2011680"/>
            <a:ext cx="495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— never stored in plain text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24448" y="2670048"/>
            <a:ext cx="5318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2670048"/>
            <a:ext cx="495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tokens carry role and expire on a fixed interval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24448" y="3328416"/>
            <a:ext cx="5318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07328" y="3328416"/>
            <a:ext cx="495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endpoint re-checks role server-side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24448" y="3986784"/>
            <a:ext cx="5318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07328" y="3986784"/>
            <a:ext cx="495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with parameterised queries prevents SQL injection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89204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AF0F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48920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testing: TC-NF-07 password hashing, TC-NF-08 JWT expiry, TC-NF-09 role-based access — all three passed.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PROJECT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Sustainable Subscription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pay a subscription, verified through Chapa, before they can publish — funding the platform without ever charging seekers, so the demand side of the market stays as large as possible.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Plan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675888" y="27889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894 ETB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212080" cy="0"/>
          </a:xfrm>
          <a:prstGeom prst="line">
            <a:avLst/>
          </a:prstGeom>
          <a:noFill/>
          <a:ln w="9525">
            <a:solidFill>
              <a:srgbClr val="E3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31927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 Plan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75888" y="331927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1,194 ETB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776472"/>
            <a:ext cx="5212080" cy="0"/>
          </a:xfrm>
          <a:prstGeom prst="line">
            <a:avLst/>
          </a:prstGeom>
          <a:noFill/>
          <a:ln w="9525">
            <a:solidFill>
              <a:srgbClr val="E3E6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49624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Plan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384962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1,788 ETB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1713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plans, paid through the Chapa gateway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5486400" cy="2726912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4">
                <a:alpha val="15000"/>
              </a:srgbClr>
            </a:outerShdw>
          </a:effectLst>
        </p:spPr>
      </p:sp>
      <p:pic>
        <p:nvPicPr>
          <p:cNvPr id="15" name="Image 0" descr="/tmp/claude-1000/-home-samuelapl--projects-lms/63724ae9-3034-440e-91f7-96dad1a3046b/images/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286000"/>
            <a:ext cx="5303520" cy="254403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217920" y="4967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 screen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PLATFORM WALKTHROUGH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Listing Creation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1004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pic>
        <p:nvPicPr>
          <p:cNvPr id="5" name="Image 0" descr="/tmp/claude-1000/-home-samuelapl--projects-lms/63724ae9-3034-440e-91f7-96dad1a3046b/images/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48" y="1600200"/>
            <a:ext cx="1846431" cy="1645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42900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landing page &amp; property search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33008" y="1417320"/>
            <a:ext cx="541004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pic>
        <p:nvPicPr>
          <p:cNvPr id="8" name="Image 1" descr="/tmp/claude-1000/-home-samuelapl--projects-lms/63724ae9-3034-440e-91f7-96dad1a3046b/images/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985" y="1600200"/>
            <a:ext cx="3420094" cy="1645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15888" y="342900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(JWT session)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4069080"/>
            <a:ext cx="541004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pic>
        <p:nvPicPr>
          <p:cNvPr id="11" name="Image 2" descr="/tmp/claude-1000/-home-samuelapl--projects-lms/63724ae9-3034-440e-91f7-96dad1a3046b/images/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125" y="4251960"/>
            <a:ext cx="2001078" cy="1645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1520" y="608076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creation — location &amp; amenities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33008" y="4069080"/>
            <a:ext cx="541004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pic>
        <p:nvPicPr>
          <p:cNvPr id="14" name="Image 3" descr="/tmp/claude-1000/-home-samuelapl--projects-lms/63724ae9-3034-440e-91f7-96dad1a3046b/images/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900" y="4251960"/>
            <a:ext cx="1616264" cy="16459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15888" y="608076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submit for approval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PLATFORM WALKTHROUGH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&amp; Admin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1004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pic>
        <p:nvPicPr>
          <p:cNvPr id="5" name="Image 0" descr="/tmp/claude-1000/-home-samuelapl--projects-lms/63724ae9-3034-440e-91f7-96dad1a3046b/images/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617" y="1600200"/>
            <a:ext cx="3420094" cy="1645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42900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 — listings at a glance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33008" y="1417320"/>
            <a:ext cx="541004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pic>
        <p:nvPicPr>
          <p:cNvPr id="8" name="Image 1" descr="/tmp/claude-1000/-home-samuelapl--projects-lms/63724ae9-3034-440e-91f7-96dad1a3046b/images/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461" y="1600200"/>
            <a:ext cx="2025140" cy="1645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15888" y="342900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status: approved, pending, rejected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4069080"/>
            <a:ext cx="541004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pic>
        <p:nvPicPr>
          <p:cNvPr id="11" name="Image 2" descr="/tmp/claude-1000/-home-samuelapl--projects-lms/63724ae9-3034-440e-91f7-96dad1a3046b/images/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836" y="4251960"/>
            <a:ext cx="3425655" cy="1645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1520" y="608076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verification queue (owner documents)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33008" y="4069080"/>
            <a:ext cx="541004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pic>
        <p:nvPicPr>
          <p:cNvPr id="14" name="Image 3" descr="/tmp/claude-1000/-home-samuelapl--projects-lms/63724ae9-3034-440e-91f7-96dad1a3046b/images/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414" y="4251960"/>
            <a:ext cx="3431234" cy="16459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15888" y="608076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payment history (Chapa transactions)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RESULTS &amp; 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User Acceptance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2154" cy="1371600"/>
          </a:xfrm>
          <a:prstGeom prst="roundRect">
            <a:avLst>
              <a:gd name="adj" fmla="val 5333"/>
            </a:avLst>
          </a:prstGeom>
          <a:solidFill>
            <a:srgbClr val="0F2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150/150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79394" y="1600200"/>
            <a:ext cx="26021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2274" y="178308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23/23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62274" y="24688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met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0148" y="1600200"/>
            <a:ext cx="26021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178308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93028" y="24688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satisfaction (17 users)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40901" y="1600200"/>
            <a:ext cx="26021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  <a:effectLst>
            <a:outerShdw sx="100000" sy="100000" kx="0" ky="0" algn="bl" rotWithShape="0" blurRad="76200" dist="25400" dir="5400000">
              <a:srgbClr val="0F2A44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3781" y="178308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223781" y="24688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 &amp; resolved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375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BY TEST TYPE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7033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45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956816" y="3703320"/>
            <a:ext cx="1929384" cy="45720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956816" y="370332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· 28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069080" y="37033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06908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· 52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80760" y="370332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80760" y="3703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15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891272" y="3703320"/>
            <a:ext cx="1929384" cy="45720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91272" y="370332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· 10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7091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7091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loaded in </a:t>
            </a:r>
            <a:pPr indent="0" marL="0">
              <a:buNone/>
            </a:pPr>
            <a:r>
              <a:rPr lang="en-US" sz="13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1.8s</a:t>
            </a:r>
            <a:pPr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(target 3s) and WebSocket delivery averaged </a:t>
            </a:r>
            <a:pPr indent="0" marL="0">
              <a:buNone/>
            </a:pPr>
            <a:r>
              <a:rPr lang="en-US" sz="13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0.5s</a:t>
            </a:r>
            <a:pPr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(target 2s) — both non-functional targets exceeded.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1860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tested platform ready for pilot deployment — all 23 requirements met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99232"/>
            <a:ext cx="531860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999232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mastery of secure APIs, real-time systems and payment integration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86784"/>
            <a:ext cx="531860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6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86784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company problem carried through requirements to deployment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24448" y="160020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24448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44488" y="205740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24448" y="25877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44488" y="258775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Map-based property search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24448" y="311810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44488" y="3118104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payment gateways (TeleBirr, CBE Birr)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24448" y="364845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3648456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language support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24448" y="41788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44488" y="4178808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load &amp; stress testing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samuelapl--projects-lms/63724ae9-3034-440e-91f7-96dad1a3046b/images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0058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747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D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Rediet Gebrehiwot · BDU1505929        Tamer Getaw · BDU1507859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EstateLink · Ethioden IT Consultancy PLC · Bahir Dar University, September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EstateLink Internship Defense</dc:title>
  <dc:subject>PptxGenJS Presentation</dc:subject>
  <dc:creator>Rediet Gebrehiwot &amp; Tamer Getaw</dc:creator>
  <cp:lastModifiedBy>Rediet Gebrehiwot &amp; Tamer Getaw</cp:lastModifiedBy>
  <cp:revision>1</cp:revision>
  <dcterms:created xsi:type="dcterms:W3CDTF">2026-09-22T04:02:57Z</dcterms:created>
  <dcterms:modified xsi:type="dcterms:W3CDTF">2026-09-22T04:02:57Z</dcterms:modified>
</cp:coreProperties>
</file>